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1452064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676493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639905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98AEC57-EF87-4471-95CC-44B08502F649}"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342407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98AEC57-EF87-4471-95CC-44B08502F649}" type="datetimeFigureOut">
              <a:rPr lang="en-IN" smtClean="0"/>
              <a:t>18-12-2025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1973948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98AEC57-EF87-4471-95CC-44B08502F649}" type="datetimeFigureOut">
              <a:rPr lang="en-IN" smtClean="0"/>
              <a:t>18-12-2025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2170513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8AEC57-EF87-4471-95CC-44B08502F649}" type="datetimeFigureOut">
              <a:rPr lang="en-IN" smtClean="0"/>
              <a:t>18-12-2025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2977279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8AEC57-EF87-4471-95CC-44B08502F649}" type="datetimeFigureOut">
              <a:rPr lang="en-IN" smtClean="0"/>
              <a:t>18-12-2025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2166027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2E129-261B-459C-B032-213CB899A072}" type="slidenum">
              <a:rPr lang="en-IN" smtClean="0"/>
              <a:t>‹#›</a:t>
            </a:fld>
            <a:endParaRPr lang="en-IN"/>
          </a:p>
        </p:txBody>
      </p:sp>
      <p:sp>
        <p:nvSpPr>
          <p:cNvPr id="5" name="Date Placeholder 4"/>
          <p:cNvSpPr>
            <a:spLocks noGrp="1"/>
          </p:cNvSpPr>
          <p:nvPr>
            <p:ph type="dt" sz="half" idx="10"/>
          </p:nvPr>
        </p:nvSpPr>
        <p:spPr/>
        <p:txBody>
          <a:bodyPr/>
          <a:lstStyle/>
          <a:p>
            <a:fld id="{E98AEC57-EF87-4471-95CC-44B08502F649}" type="datetimeFigureOut">
              <a:rPr lang="en-IN" smtClean="0"/>
              <a:t>18-12-2025</a:t>
            </a:fld>
            <a:endParaRPr lang="en-IN"/>
          </a:p>
        </p:txBody>
      </p:sp>
    </p:spTree>
    <p:extLst>
      <p:ext uri="{BB962C8B-B14F-4D97-AF65-F5344CB8AC3E}">
        <p14:creationId xmlns:p14="http://schemas.microsoft.com/office/powerpoint/2010/main" val="3152718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3153087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364661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1695388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69439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15616578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878794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AEC57-EF87-4471-95CC-44B08502F649}" type="datetimeFigureOut">
              <a:rPr lang="en-IN" smtClean="0"/>
              <a:t>18-12-2025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2E129-261B-459C-B032-213CB899A072}" type="slidenum">
              <a:rPr lang="en-IN" smtClean="0"/>
              <a:t>‹#›</a:t>
            </a:fld>
            <a:endParaRPr lang="en-IN"/>
          </a:p>
        </p:txBody>
      </p:sp>
    </p:spTree>
    <p:extLst>
      <p:ext uri="{BB962C8B-B14F-4D97-AF65-F5344CB8AC3E}">
        <p14:creationId xmlns:p14="http://schemas.microsoft.com/office/powerpoint/2010/main" val="2624081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8AEC57-EF87-4471-95CC-44B08502F649}" type="datetimeFigureOut">
              <a:rPr lang="en-IN" smtClean="0"/>
              <a:t>18-12-2025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822E129-261B-459C-B032-213CB899A072}" type="slidenum">
              <a:rPr lang="en-IN" smtClean="0"/>
              <a:t>‹#›</a:t>
            </a:fld>
            <a:endParaRPr lang="en-IN"/>
          </a:p>
        </p:txBody>
      </p:sp>
    </p:spTree>
    <p:extLst>
      <p:ext uri="{BB962C8B-B14F-4D97-AF65-F5344CB8AC3E}">
        <p14:creationId xmlns:p14="http://schemas.microsoft.com/office/powerpoint/2010/main" val="391506610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79386" y="2241802"/>
            <a:ext cx="7766936" cy="1646302"/>
          </a:xfrm>
        </p:spPr>
        <p:txBody>
          <a:bodyPr>
            <a:noAutofit/>
          </a:bodyPr>
          <a:lstStyle/>
          <a:p>
            <a:pPr algn="ctr"/>
            <a:r>
              <a:rPr lang="en-US" sz="4400" dirty="0" smtClean="0"/>
              <a:t>AAI Fund Management System: </a:t>
            </a:r>
            <a:r>
              <a:rPr lang="en-US" sz="4400" b="1" dirty="0" smtClean="0"/>
              <a:t>The Project Fund Workflow</a:t>
            </a:r>
            <a:endParaRPr lang="en-IN" sz="4400" dirty="0"/>
          </a:p>
        </p:txBody>
      </p:sp>
      <p:sp>
        <p:nvSpPr>
          <p:cNvPr id="3" name="Subtitle 2"/>
          <p:cNvSpPr>
            <a:spLocks noGrp="1"/>
          </p:cNvSpPr>
          <p:nvPr>
            <p:ph type="subTitle" idx="1"/>
          </p:nvPr>
        </p:nvSpPr>
        <p:spPr/>
        <p:txBody>
          <a:bodyPr>
            <a:normAutofit fontScale="92500" lnSpcReduction="10000"/>
          </a:bodyPr>
          <a:lstStyle/>
          <a:p>
            <a:r>
              <a:rPr lang="en-US" dirty="0" smtClean="0"/>
              <a:t>                                                                                    </a:t>
            </a:r>
          </a:p>
          <a:p>
            <a:endParaRPr lang="en-US" dirty="0"/>
          </a:p>
          <a:p>
            <a:r>
              <a:rPr lang="en-US" b="1" dirty="0" smtClean="0"/>
              <a:t>                                                                                                 </a:t>
            </a:r>
            <a:endParaRPr lang="en-IN" b="1" dirty="0"/>
          </a:p>
        </p:txBody>
      </p:sp>
    </p:spTree>
    <p:extLst>
      <p:ext uri="{BB962C8B-B14F-4D97-AF65-F5344CB8AC3E}">
        <p14:creationId xmlns:p14="http://schemas.microsoft.com/office/powerpoint/2010/main" val="2963428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024" y="358587"/>
            <a:ext cx="8027395" cy="546848"/>
          </a:xfrm>
        </p:spPr>
        <p:txBody>
          <a:bodyPr>
            <a:normAutofit fontScale="90000"/>
          </a:bodyPr>
          <a:lstStyle/>
          <a:p>
            <a:r>
              <a:rPr lang="en-US" b="1" dirty="0" smtClean="0"/>
              <a:t>Main Login-in </a:t>
            </a:r>
            <a:r>
              <a:rPr lang="en-US" b="1" dirty="0"/>
              <a:t>P</a:t>
            </a:r>
            <a:r>
              <a:rPr lang="en-US" b="1" dirty="0" smtClean="0"/>
              <a:t>age</a:t>
            </a:r>
            <a:r>
              <a:rPr lang="en-US" dirty="0" smtClean="0"/>
              <a:t/>
            </a:r>
            <a:br>
              <a:rPr lang="en-US" dirty="0" smtClean="0"/>
            </a:b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29521" y="1192306"/>
            <a:ext cx="7772400" cy="4778002"/>
          </a:xfrm>
        </p:spPr>
      </p:pic>
    </p:spTree>
    <p:extLst>
      <p:ext uri="{BB962C8B-B14F-4D97-AF65-F5344CB8AC3E}">
        <p14:creationId xmlns:p14="http://schemas.microsoft.com/office/powerpoint/2010/main" val="3917383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111624"/>
          </a:xfrm>
        </p:spPr>
        <p:txBody>
          <a:bodyPr>
            <a:normAutofit fontScale="90000"/>
          </a:bodyPr>
          <a:lstStyle/>
          <a:p>
            <a:r>
              <a:rPr lang="en-IN" dirty="0"/>
              <a:t>Phase 1: Station Request (Initiation)</a:t>
            </a:r>
            <a:br>
              <a:rPr lang="en-IN" dirty="0"/>
            </a:br>
            <a:r>
              <a:rPr lang="en-IN" dirty="0" smtClean="0"/>
              <a:t/>
            </a:r>
            <a:br>
              <a:rPr lang="en-IN" dirty="0" smtClean="0"/>
            </a:br>
            <a:r>
              <a:rPr lang="en-IN" dirty="0" smtClean="0"/>
              <a:t>System </a:t>
            </a:r>
            <a:r>
              <a:rPr lang="en-IN" dirty="0"/>
              <a:t>Access and Registration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2330" y="2577352"/>
            <a:ext cx="7144869" cy="3761815"/>
          </a:xfrm>
          <a:prstGeom prst="rect">
            <a:avLst/>
          </a:prstGeom>
        </p:spPr>
      </p:pic>
    </p:spTree>
    <p:extLst>
      <p:ext uri="{BB962C8B-B14F-4D97-AF65-F5344CB8AC3E}">
        <p14:creationId xmlns:p14="http://schemas.microsoft.com/office/powerpoint/2010/main" val="12107516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noGrp="1"/>
          </p:cNvSpPr>
          <p:nvPr>
            <p:ph type="title"/>
          </p:nvPr>
        </p:nvSpPr>
        <p:spPr>
          <a:xfrm>
            <a:off x="444250" y="1084730"/>
            <a:ext cx="8596668" cy="4893647"/>
          </a:xfrm>
          <a:prstGeom prst="rect">
            <a:avLst/>
          </a:prstGeom>
          <a:noFill/>
        </p:spPr>
        <p:txBody>
          <a:bodyPr wrap="square" rtlCol="0">
            <a:spAutoFit/>
          </a:bodyPr>
          <a:lstStyle/>
          <a:p>
            <a:r>
              <a:rPr lang="en-US" sz="2400" dirty="0" smtClean="0">
                <a:solidFill>
                  <a:schemeClr val="tx1"/>
                </a:solidFill>
              </a:rPr>
              <a:t>Secure access is provided via the AAI Fund Management Portal. </a:t>
            </a:r>
            <a:br>
              <a:rPr lang="en-US" sz="2400" dirty="0" smtClean="0">
                <a:solidFill>
                  <a:schemeClr val="tx1"/>
                </a:solidFill>
              </a:rPr>
            </a:br>
            <a:r>
              <a:rPr lang="en-US" sz="2400" dirty="0" smtClean="0">
                <a:solidFill>
                  <a:schemeClr val="tx1"/>
                </a:solidFill>
              </a:rPr>
              <a:t/>
            </a:r>
            <a:br>
              <a:rPr lang="en-US" sz="2400" dirty="0" smtClean="0">
                <a:solidFill>
                  <a:schemeClr val="tx1"/>
                </a:solidFill>
              </a:rPr>
            </a:br>
            <a:r>
              <a:rPr lang="en-US" sz="2400" dirty="0" smtClean="0">
                <a:solidFill>
                  <a:schemeClr val="tx1"/>
                </a:solidFill>
              </a:rPr>
              <a:t>New </a:t>
            </a:r>
            <a:r>
              <a:rPr lang="en-US" sz="2400" b="1" dirty="0" smtClean="0">
                <a:solidFill>
                  <a:schemeClr val="tx1"/>
                </a:solidFill>
              </a:rPr>
              <a:t>Station Members</a:t>
            </a:r>
            <a:r>
              <a:rPr lang="en-US" sz="2400" dirty="0" smtClean="0">
                <a:solidFill>
                  <a:schemeClr val="tx1"/>
                </a:solidFill>
              </a:rPr>
              <a:t> must register, providing their Official Email, Department (e.g., Tech), and assigned </a:t>
            </a:r>
            <a:r>
              <a:rPr lang="en-US" sz="2400" b="1" dirty="0" smtClean="0">
                <a:solidFill>
                  <a:schemeClr val="tx1"/>
                </a:solidFill>
              </a:rPr>
              <a:t>Station</a:t>
            </a:r>
            <a:r>
              <a:rPr lang="en-US" sz="2400" dirty="0" smtClean="0">
                <a:solidFill>
                  <a:schemeClr val="tx1"/>
                </a:solidFill>
              </a:rPr>
              <a:t> (e.g., Madurai) to create an account.</a:t>
            </a:r>
            <a:br>
              <a:rPr lang="en-US" sz="2400" dirty="0" smtClean="0">
                <a:solidFill>
                  <a:schemeClr val="tx1"/>
                </a:solidFill>
              </a:rPr>
            </a:br>
            <a:r>
              <a:rPr lang="en-US" sz="2400" dirty="0" smtClean="0">
                <a:solidFill>
                  <a:schemeClr val="tx1"/>
                </a:solidFill>
              </a:rPr>
              <a:t/>
            </a:r>
            <a:br>
              <a:rPr lang="en-US" sz="2400" dirty="0" smtClean="0">
                <a:solidFill>
                  <a:schemeClr val="tx1"/>
                </a:solidFill>
              </a:rPr>
            </a:br>
            <a:r>
              <a:rPr lang="en-US" sz="2400" b="1" dirty="0" smtClean="0">
                <a:solidFill>
                  <a:schemeClr val="tx1"/>
                </a:solidFill>
              </a:rPr>
              <a:t>Station Members</a:t>
            </a:r>
            <a:r>
              <a:rPr lang="en-US" sz="2400" dirty="0" smtClean="0">
                <a:solidFill>
                  <a:schemeClr val="tx1"/>
                </a:solidFill>
              </a:rPr>
              <a:t> must register, providing their Official Email, Department (e.g., Tech), and assigned </a:t>
            </a:r>
            <a:r>
              <a:rPr lang="en-US" sz="2400" b="1" dirty="0" smtClean="0">
                <a:solidFill>
                  <a:schemeClr val="tx1"/>
                </a:solidFill>
              </a:rPr>
              <a:t>Station</a:t>
            </a:r>
            <a:r>
              <a:rPr lang="en-US" sz="2400" dirty="0" smtClean="0">
                <a:solidFill>
                  <a:schemeClr val="tx1"/>
                </a:solidFill>
              </a:rPr>
              <a:t> (e.g., Madurai) to create an account.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Then the station member can login their on account using their registered G-mail and password.</a:t>
            </a:r>
            <a:endParaRPr lang="en-IN" sz="2400" dirty="0">
              <a:solidFill>
                <a:schemeClr val="tx1"/>
              </a:solidFill>
            </a:endParaRPr>
          </a:p>
        </p:txBody>
      </p:sp>
    </p:spTree>
    <p:extLst>
      <p:ext uri="{BB962C8B-B14F-4D97-AF65-F5344CB8AC3E}">
        <p14:creationId xmlns:p14="http://schemas.microsoft.com/office/powerpoint/2010/main" val="12671852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noGrp="1"/>
          </p:cNvSpPr>
          <p:nvPr>
            <p:ph type="title"/>
          </p:nvPr>
        </p:nvSpPr>
        <p:spPr>
          <a:prstGeom prst="rect">
            <a:avLst/>
          </a:prstGeom>
          <a:noFill/>
        </p:spPr>
        <p:txBody>
          <a:bodyPr wrap="square" rtlCol="0">
            <a:spAutoFit/>
          </a:bodyPr>
          <a:lstStyle/>
          <a:p>
            <a:r>
              <a:rPr lang="en-IN" dirty="0" smtClean="0"/>
              <a:t>Station Dashboard Overview</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393" y="1739152"/>
            <a:ext cx="8314266" cy="4349003"/>
          </a:xfrm>
          <a:prstGeom prst="rect">
            <a:avLst/>
          </a:prstGeom>
        </p:spPr>
      </p:pic>
    </p:spTree>
    <p:extLst>
      <p:ext uri="{BB962C8B-B14F-4D97-AF65-F5344CB8AC3E}">
        <p14:creationId xmlns:p14="http://schemas.microsoft.com/office/powerpoint/2010/main" val="1915360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8722" y="1156447"/>
            <a:ext cx="8596668" cy="1320800"/>
          </a:xfrm>
        </p:spPr>
        <p:txBody>
          <a:bodyPr>
            <a:normAutofit fontScale="90000"/>
          </a:bodyPr>
          <a:lstStyle/>
          <a:p>
            <a:r>
              <a:rPr lang="en-US" sz="2700" dirty="0" smtClean="0">
                <a:solidFill>
                  <a:schemeClr val="tx1"/>
                </a:solidFill>
              </a:rPr>
              <a:t>The </a:t>
            </a:r>
            <a:r>
              <a:rPr lang="en-US" sz="2700" dirty="0">
                <a:solidFill>
                  <a:schemeClr val="tx1"/>
                </a:solidFill>
              </a:rPr>
              <a:t>dashboard provides an immediate summary of Total </a:t>
            </a:r>
            <a:r>
              <a:rPr lang="en-US" sz="2700" dirty="0" smtClean="0">
                <a:solidFill>
                  <a:schemeClr val="tx1"/>
                </a:solidFill>
              </a:rPr>
              <a:t>       Amount </a:t>
            </a:r>
            <a:r>
              <a:rPr lang="en-US" sz="2700" dirty="0">
                <a:solidFill>
                  <a:schemeClr val="tx1"/>
                </a:solidFill>
              </a:rPr>
              <a:t>Requested and Total Amount Granted</a:t>
            </a:r>
            <a:r>
              <a:rPr lang="en-US" sz="2700" dirty="0" smtClean="0">
                <a:solidFill>
                  <a:schemeClr val="tx1"/>
                </a:solidFill>
              </a:rPr>
              <a:t>.</a:t>
            </a:r>
            <a:br>
              <a:rPr lang="en-US" sz="2700" dirty="0" smtClean="0">
                <a:solidFill>
                  <a:schemeClr val="tx1"/>
                </a:solidFill>
              </a:rPr>
            </a:br>
            <a:r>
              <a:rPr lang="en-US" sz="2700" dirty="0">
                <a:solidFill>
                  <a:schemeClr val="tx1"/>
                </a:solidFill>
              </a:rPr>
              <a:t/>
            </a:r>
            <a:br>
              <a:rPr lang="en-US" sz="2700" dirty="0">
                <a:solidFill>
                  <a:schemeClr val="tx1"/>
                </a:solidFill>
              </a:rPr>
            </a:br>
            <a:r>
              <a:rPr lang="en-US" sz="2700" dirty="0" smtClean="0">
                <a:solidFill>
                  <a:schemeClr val="tx1"/>
                </a:solidFill>
              </a:rPr>
              <a:t> </a:t>
            </a:r>
            <a:r>
              <a:rPr lang="en-US" sz="2700" dirty="0">
                <a:solidFill>
                  <a:schemeClr val="tx1"/>
                </a:solidFill>
              </a:rPr>
              <a:t>Navigation is managed through the sidebar </a:t>
            </a:r>
            <a:r>
              <a:rPr lang="en-US" sz="2700" dirty="0" smtClean="0">
                <a:solidFill>
                  <a:schemeClr val="tx1"/>
                </a:solidFill>
              </a:rPr>
              <a:t>menu. The station staff can use this dashboard to request the fund amount , to view the status of the requested amount .</a:t>
            </a:r>
            <a:br>
              <a:rPr lang="en-US" sz="2700" dirty="0" smtClean="0">
                <a:solidFill>
                  <a:schemeClr val="tx1"/>
                </a:solidFill>
              </a:rPr>
            </a:br>
            <a:r>
              <a:rPr lang="en-US" sz="2700" dirty="0">
                <a:solidFill>
                  <a:schemeClr val="tx1"/>
                </a:solidFill>
              </a:rPr>
              <a:t/>
            </a:r>
            <a:br>
              <a:rPr lang="en-US" sz="2700" dirty="0">
                <a:solidFill>
                  <a:schemeClr val="tx1"/>
                </a:solidFill>
              </a:rPr>
            </a:br>
            <a:r>
              <a:rPr lang="en-US" sz="2700" dirty="0" smtClean="0">
                <a:solidFill>
                  <a:schemeClr val="tx1"/>
                </a:solidFill>
              </a:rPr>
              <a:t>When the fund amount is approved by the RHQ , then the status will change and will be visible for the respected stations .</a:t>
            </a:r>
            <a:endParaRPr lang="en-IN" sz="2700" dirty="0">
              <a:solidFill>
                <a:schemeClr val="tx1"/>
              </a:solidFill>
            </a:endParaRPr>
          </a:p>
        </p:txBody>
      </p:sp>
    </p:spTree>
    <p:extLst>
      <p:ext uri="{BB962C8B-B14F-4D97-AF65-F5344CB8AC3E}">
        <p14:creationId xmlns:p14="http://schemas.microsoft.com/office/powerpoint/2010/main" val="257367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Create Fund Request</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871" y="1586753"/>
            <a:ext cx="8866094" cy="4214532"/>
          </a:xfrm>
          <a:prstGeom prst="rect">
            <a:avLst/>
          </a:prstGeom>
        </p:spPr>
      </p:pic>
    </p:spTree>
    <p:extLst>
      <p:ext uri="{BB962C8B-B14F-4D97-AF65-F5344CB8AC3E}">
        <p14:creationId xmlns:p14="http://schemas.microsoft.com/office/powerpoint/2010/main" val="28019553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004" y="1021977"/>
            <a:ext cx="8596668" cy="1320800"/>
          </a:xfrm>
        </p:spPr>
        <p:txBody>
          <a:bodyPr>
            <a:noAutofit/>
          </a:bodyPr>
          <a:lstStyle/>
          <a:p>
            <a:r>
              <a:rPr lang="en-US" sz="2400" dirty="0">
                <a:solidFill>
                  <a:schemeClr val="tx1"/>
                </a:solidFill>
              </a:rPr>
              <a:t>The Station initiates the process by entering the project's </a:t>
            </a:r>
            <a:r>
              <a:rPr lang="en-US" sz="2400" b="1" dirty="0">
                <a:solidFill>
                  <a:schemeClr val="tx1"/>
                </a:solidFill>
              </a:rPr>
              <a:t>Purpose</a:t>
            </a:r>
            <a:r>
              <a:rPr lang="en-US" sz="2400" dirty="0">
                <a:solidFill>
                  <a:schemeClr val="tx1"/>
                </a:solidFill>
              </a:rPr>
              <a:t> (e.g., </a:t>
            </a:r>
            <a:r>
              <a:rPr lang="en-US" sz="2400" i="1" dirty="0">
                <a:solidFill>
                  <a:schemeClr val="tx1"/>
                </a:solidFill>
              </a:rPr>
              <a:t>fund requesting for repair and replacement of servers</a:t>
            </a:r>
            <a:r>
              <a:rPr lang="en-US" sz="2400" dirty="0">
                <a:solidFill>
                  <a:schemeClr val="tx1"/>
                </a:solidFill>
              </a:rPr>
              <a:t>) and the exact </a:t>
            </a:r>
            <a:r>
              <a:rPr lang="en-US" sz="2400" b="1" dirty="0">
                <a:solidFill>
                  <a:schemeClr val="tx1"/>
                </a:solidFill>
              </a:rPr>
              <a:t>Amount</a:t>
            </a:r>
            <a:r>
              <a:rPr lang="en-US" sz="2400" dirty="0">
                <a:solidFill>
                  <a:schemeClr val="tx1"/>
                </a:solidFill>
              </a:rPr>
              <a:t> required (e.g., ₹500,000.00</a:t>
            </a:r>
            <a:r>
              <a:rPr lang="en-US" sz="2400" dirty="0" smtClean="0">
                <a:solidFill>
                  <a:schemeClr val="tx1"/>
                </a:solidFill>
              </a:rPr>
              <a:t>).</a:t>
            </a:r>
            <a:br>
              <a:rPr lang="en-US" sz="2400" dirty="0" smtClean="0">
                <a:solidFill>
                  <a:schemeClr val="tx1"/>
                </a:solidFill>
              </a:rPr>
            </a:br>
            <a:r>
              <a:rPr lang="en-US" sz="2400" dirty="0" smtClean="0">
                <a:solidFill>
                  <a:schemeClr val="tx1"/>
                </a:solidFill>
              </a:rPr>
              <a:t/>
            </a:r>
            <a:br>
              <a:rPr lang="en-US" sz="2400" dirty="0" smtClean="0">
                <a:solidFill>
                  <a:schemeClr val="tx1"/>
                </a:solidFill>
              </a:rPr>
            </a:br>
            <a:r>
              <a:rPr lang="en-US" sz="2400" dirty="0" smtClean="0">
                <a:solidFill>
                  <a:schemeClr val="tx1"/>
                </a:solidFill>
              </a:rPr>
              <a:t>It is mandatory to fill the purpose of the fund request. And the amount can also be set and the station staff can submit the request.</a:t>
            </a:r>
            <a:endParaRPr lang="en-IN" sz="2400" dirty="0">
              <a:solidFill>
                <a:schemeClr val="tx1"/>
              </a:solidFill>
            </a:endParaRPr>
          </a:p>
        </p:txBody>
      </p:sp>
    </p:spTree>
    <p:extLst>
      <p:ext uri="{BB962C8B-B14F-4D97-AF65-F5344CB8AC3E}">
        <p14:creationId xmlns:p14="http://schemas.microsoft.com/office/powerpoint/2010/main" val="2600561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Status Update</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659" y="1524001"/>
            <a:ext cx="8552328" cy="4340038"/>
          </a:xfrm>
          <a:prstGeom prst="rect">
            <a:avLst/>
          </a:prstGeom>
        </p:spPr>
      </p:pic>
    </p:spTree>
    <p:extLst>
      <p:ext uri="{BB962C8B-B14F-4D97-AF65-F5344CB8AC3E}">
        <p14:creationId xmlns:p14="http://schemas.microsoft.com/office/powerpoint/2010/main" val="19196834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357" y="1165412"/>
            <a:ext cx="8596668" cy="1320800"/>
          </a:xfrm>
        </p:spPr>
        <p:txBody>
          <a:bodyPr>
            <a:normAutofit fontScale="90000"/>
          </a:bodyPr>
          <a:lstStyle/>
          <a:p>
            <a:r>
              <a:rPr lang="en-US" sz="2400" dirty="0">
                <a:solidFill>
                  <a:schemeClr val="tx1"/>
                </a:solidFill>
              </a:rPr>
              <a:t>Upon submission, the dashboard confirms the submission, and the request is immediately moved to the </a:t>
            </a:r>
            <a:r>
              <a:rPr lang="en-US" sz="2400" b="1" dirty="0">
                <a:solidFill>
                  <a:schemeClr val="tx1"/>
                </a:solidFill>
              </a:rPr>
              <a:t>Pending Requests</a:t>
            </a:r>
            <a:r>
              <a:rPr lang="en-US" sz="2400" dirty="0">
                <a:solidFill>
                  <a:schemeClr val="tx1"/>
                </a:solidFill>
              </a:rPr>
              <a:t> tab</a:t>
            </a:r>
            <a:r>
              <a:rPr lang="en-US" sz="2400" dirty="0" smtClean="0">
                <a:solidFill>
                  <a:schemeClr val="tx1"/>
                </a:solidFill>
              </a:rPr>
              <a: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The submission is recorded in the pending request and also in the history.</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Using this we can access the old data request records for future uses.</a:t>
            </a:r>
            <a:endParaRPr lang="en-IN" sz="2400" dirty="0">
              <a:solidFill>
                <a:schemeClr val="tx1"/>
              </a:solidFill>
            </a:endParaRPr>
          </a:p>
        </p:txBody>
      </p:sp>
    </p:spTree>
    <p:extLst>
      <p:ext uri="{BB962C8B-B14F-4D97-AF65-F5344CB8AC3E}">
        <p14:creationId xmlns:p14="http://schemas.microsoft.com/office/powerpoint/2010/main" val="24987287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887" y="322730"/>
            <a:ext cx="8596668" cy="2196353"/>
          </a:xfrm>
        </p:spPr>
        <p:txBody>
          <a:bodyPr>
            <a:normAutofit fontScale="90000"/>
          </a:bodyPr>
          <a:lstStyle/>
          <a:p>
            <a:r>
              <a:rPr lang="en-US" dirty="0"/>
              <a:t>Phase 2: </a:t>
            </a:r>
            <a:r>
              <a:rPr lang="en-US" dirty="0" smtClean="0"/>
              <a:t> </a:t>
            </a:r>
            <a:r>
              <a:rPr lang="en-US" dirty="0"/>
              <a:t>RHQ Review (Approval</a:t>
            </a:r>
            <a:r>
              <a:rPr lang="en-US" dirty="0" smtClean="0"/>
              <a:t>)</a:t>
            </a:r>
            <a:br>
              <a:rPr lang="en-US" dirty="0" smtClean="0"/>
            </a:br>
            <a:r>
              <a:rPr lang="en-US" dirty="0" smtClean="0"/>
              <a:t>RHQ Dashboard</a:t>
            </a: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r>
              <a:rPr lang="en-US" sz="3200" dirty="0" smtClean="0"/>
              <a:t/>
            </a:r>
            <a:br>
              <a:rPr lang="en-US" sz="3200" dirty="0" smtClean="0"/>
            </a:br>
            <a:r>
              <a:rPr lang="en-US" sz="3200" dirty="0"/>
              <a:t/>
            </a:r>
            <a:br>
              <a:rPr lang="en-US" sz="3200" dirty="0"/>
            </a:br>
            <a:endParaRPr lang="en-IN" sz="32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852" y="1766046"/>
            <a:ext cx="8421842" cy="4008343"/>
          </a:xfrm>
          <a:prstGeom prst="rect">
            <a:avLst/>
          </a:prstGeom>
        </p:spPr>
      </p:pic>
    </p:spTree>
    <p:extLst>
      <p:ext uri="{BB962C8B-B14F-4D97-AF65-F5344CB8AC3E}">
        <p14:creationId xmlns:p14="http://schemas.microsoft.com/office/powerpoint/2010/main" val="10429775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RHQ Pending Requests View</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41" y="1643529"/>
            <a:ext cx="7879976" cy="4626909"/>
          </a:xfrm>
          <a:prstGeom prst="rect">
            <a:avLst/>
          </a:prstGeom>
        </p:spPr>
      </p:pic>
    </p:spTree>
    <p:extLst>
      <p:ext uri="{BB962C8B-B14F-4D97-AF65-F5344CB8AC3E}">
        <p14:creationId xmlns:p14="http://schemas.microsoft.com/office/powerpoint/2010/main" val="31932632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chemeClr val="tx1"/>
                </a:solidFill>
              </a:rPr>
              <a:t>The request appears on the </a:t>
            </a:r>
            <a:r>
              <a:rPr lang="en-US" sz="2400" b="1" dirty="0">
                <a:solidFill>
                  <a:schemeClr val="tx1"/>
                </a:solidFill>
              </a:rPr>
              <a:t>RHQ Dashboard</a:t>
            </a:r>
            <a:r>
              <a:rPr lang="en-US" sz="2400" dirty="0">
                <a:solidFill>
                  <a:schemeClr val="tx1"/>
                </a:solidFill>
              </a:rPr>
              <a:t> under </a:t>
            </a:r>
            <a:r>
              <a:rPr lang="en-US" sz="2400" b="1" dirty="0">
                <a:solidFill>
                  <a:schemeClr val="tx1"/>
                </a:solidFill>
              </a:rPr>
              <a:t>Pending Requests</a:t>
            </a:r>
            <a:r>
              <a:rPr lang="en-US" sz="2400" dirty="0">
                <a:solidFill>
                  <a:schemeClr val="tx1"/>
                </a:solidFill>
              </a:rPr>
              <a:t>. </a:t>
            </a:r>
            <a:r>
              <a:rPr lang="en-US" sz="2400" dirty="0" smtClean="0">
                <a:solidFill>
                  <a:schemeClr val="tx1"/>
                </a:solidFill>
              </a:rPr>
              <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The </a:t>
            </a:r>
            <a:r>
              <a:rPr lang="en-US" sz="2400" dirty="0">
                <a:solidFill>
                  <a:schemeClr val="tx1"/>
                </a:solidFill>
              </a:rPr>
              <a:t>RHQ authority can review details like the Purpose, Requested Amount, and current </a:t>
            </a:r>
            <a:r>
              <a:rPr lang="en-US" sz="2400" b="1" dirty="0">
                <a:solidFill>
                  <a:schemeClr val="tx1"/>
                </a:solidFill>
              </a:rPr>
              <a:t>Status: PENDING</a:t>
            </a:r>
            <a:r>
              <a:rPr lang="en-US" sz="2400" dirty="0" smtClean="0">
                <a:solidFill>
                  <a:schemeClr val="tx1"/>
                </a:solidFill>
              </a:rPr>
              <a: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If the request is approved it will be moved to approved request.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The capital allotted from CHQ to RHQ can be added into the fund pool </a:t>
            </a:r>
            <a:r>
              <a:rPr lang="en-US" sz="2400" dirty="0" err="1" smtClean="0">
                <a:solidFill>
                  <a:schemeClr val="tx1"/>
                </a:solidFill>
              </a:rPr>
              <a:t>ie</a:t>
            </a:r>
            <a:r>
              <a:rPr lang="en-US" sz="2400" dirty="0" smtClean="0">
                <a:solidFill>
                  <a:schemeClr val="tx1"/>
                </a:solidFill>
              </a:rPr>
              <a:t>, the total capital held by the RHQ.</a:t>
            </a:r>
            <a:br>
              <a:rPr lang="en-US" sz="2400" dirty="0" smtClean="0">
                <a:solidFill>
                  <a:schemeClr val="tx1"/>
                </a:solidFill>
              </a:rPr>
            </a:br>
            <a:r>
              <a:rPr lang="en-US" sz="2400" dirty="0" smtClean="0">
                <a:solidFill>
                  <a:schemeClr val="tx1"/>
                </a:solidFill>
              </a:rPr>
              <a:t/>
            </a:r>
            <a:br>
              <a:rPr lang="en-US" sz="2400" dirty="0" smtClean="0">
                <a:solidFill>
                  <a:schemeClr val="tx1"/>
                </a:solidFill>
              </a:rPr>
            </a:br>
            <a:r>
              <a:rPr lang="en-US" sz="2400" dirty="0" smtClean="0">
                <a:solidFill>
                  <a:schemeClr val="tx1"/>
                </a:solidFill>
              </a:rPr>
              <a:t>Analytics dashboard is where we can view the recorded raw data in visualization .</a:t>
            </a:r>
            <a:r>
              <a:rPr lang="en-US" sz="2400" dirty="0"/>
              <a:t/>
            </a:r>
            <a:br>
              <a:rPr lang="en-US" sz="2400" dirty="0"/>
            </a:br>
            <a:r>
              <a:rPr lang="en-US" sz="2400" dirty="0" smtClean="0"/>
              <a:t> </a:t>
            </a:r>
            <a:br>
              <a:rPr lang="en-US" sz="2400" dirty="0" smtClean="0"/>
            </a:br>
            <a:r>
              <a:rPr lang="en-US" sz="2400" dirty="0"/>
              <a:t/>
            </a:r>
            <a:br>
              <a:rPr lang="en-US" sz="2400" dirty="0"/>
            </a:br>
            <a:endParaRPr lang="en-IN" sz="2400" dirty="0"/>
          </a:p>
        </p:txBody>
      </p:sp>
    </p:spTree>
    <p:extLst>
      <p:ext uri="{BB962C8B-B14F-4D97-AF65-F5344CB8AC3E}">
        <p14:creationId xmlns:p14="http://schemas.microsoft.com/office/powerpoint/2010/main" val="18455625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Decision </a:t>
            </a:r>
            <a:r>
              <a:rPr lang="en-IN" b="1" dirty="0" smtClean="0"/>
              <a:t>Making</a:t>
            </a:r>
            <a:endParaRPr lang="en-IN" b="1"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8812" y="1757848"/>
            <a:ext cx="6615953" cy="4087906"/>
          </a:xfrm>
          <a:prstGeom prst="rect">
            <a:avLst/>
          </a:prstGeom>
        </p:spPr>
      </p:pic>
    </p:spTree>
    <p:extLst>
      <p:ext uri="{BB962C8B-B14F-4D97-AF65-F5344CB8AC3E}">
        <p14:creationId xmlns:p14="http://schemas.microsoft.com/office/powerpoint/2010/main" val="29472153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Sanction and Comment, RHQ Confirmation</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7427" y="2113038"/>
            <a:ext cx="7422776" cy="3727450"/>
          </a:xfrm>
          <a:prstGeom prst="rect">
            <a:avLst/>
          </a:prstGeom>
        </p:spPr>
      </p:pic>
    </p:spTree>
    <p:extLst>
      <p:ext uri="{BB962C8B-B14F-4D97-AF65-F5344CB8AC3E}">
        <p14:creationId xmlns:p14="http://schemas.microsoft.com/office/powerpoint/2010/main" val="37249867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0306" y="609600"/>
            <a:ext cx="8005482" cy="5460626"/>
          </a:xfrm>
          <a:prstGeom prst="rect">
            <a:avLst/>
          </a:prstGeom>
        </p:spPr>
      </p:pic>
    </p:spTree>
    <p:extLst>
      <p:ext uri="{BB962C8B-B14F-4D97-AF65-F5344CB8AC3E}">
        <p14:creationId xmlns:p14="http://schemas.microsoft.com/office/powerpoint/2010/main" val="125756612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dirty="0">
                <a:solidFill>
                  <a:schemeClr val="tx1"/>
                </a:solidFill>
              </a:rPr>
              <a:t>The request appears on the </a:t>
            </a:r>
            <a:r>
              <a:rPr lang="en-US" sz="2400" b="1" dirty="0">
                <a:solidFill>
                  <a:schemeClr val="tx1"/>
                </a:solidFill>
              </a:rPr>
              <a:t>RHQ Dashboard</a:t>
            </a:r>
            <a:r>
              <a:rPr lang="en-US" sz="2400" dirty="0">
                <a:solidFill>
                  <a:schemeClr val="tx1"/>
                </a:solidFill>
              </a:rPr>
              <a:t> under </a:t>
            </a:r>
            <a:r>
              <a:rPr lang="en-US" sz="2400" b="1" dirty="0">
                <a:solidFill>
                  <a:schemeClr val="tx1"/>
                </a:solidFill>
              </a:rPr>
              <a:t>Pending Requests</a:t>
            </a:r>
            <a:r>
              <a:rPr lang="en-US" sz="2400" dirty="0">
                <a:solidFill>
                  <a:schemeClr val="tx1"/>
                </a:solidFill>
              </a:rPr>
              <a:t>. The RHQ authority can review details like the Purpose, Requested Amount, and current </a:t>
            </a:r>
            <a:r>
              <a:rPr lang="en-US" sz="2400" b="1" dirty="0">
                <a:solidFill>
                  <a:schemeClr val="tx1"/>
                </a:solidFill>
              </a:rPr>
              <a:t>Status: PENDING</a:t>
            </a:r>
            <a:r>
              <a:rPr lang="en-US" sz="2400" dirty="0" smtClean="0">
                <a:solidFill>
                  <a:schemeClr val="tx1"/>
                </a:solidFill>
              </a:rPr>
              <a: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The RHQ user selects the </a:t>
            </a:r>
            <a:r>
              <a:rPr lang="en-US" sz="2400" b="1" dirty="0">
                <a:solidFill>
                  <a:schemeClr val="tx1"/>
                </a:solidFill>
              </a:rPr>
              <a:t>Decision</a:t>
            </a:r>
            <a:r>
              <a:rPr lang="en-US" sz="2400" dirty="0">
                <a:solidFill>
                  <a:schemeClr val="tx1"/>
                </a:solidFill>
              </a:rPr>
              <a:t> from a dropdown menu, choosing between </a:t>
            </a:r>
            <a:r>
              <a:rPr lang="en-US" sz="2400" b="1" dirty="0">
                <a:solidFill>
                  <a:schemeClr val="tx1"/>
                </a:solidFill>
              </a:rPr>
              <a:t>APPROVED</a:t>
            </a:r>
            <a:r>
              <a:rPr lang="en-US" sz="2400" dirty="0">
                <a:solidFill>
                  <a:schemeClr val="tx1"/>
                </a:solidFill>
              </a:rPr>
              <a:t>, </a:t>
            </a:r>
            <a:r>
              <a:rPr lang="en-US" sz="2400" b="1" dirty="0">
                <a:solidFill>
                  <a:schemeClr val="tx1"/>
                </a:solidFill>
              </a:rPr>
              <a:t>DENIED</a:t>
            </a:r>
            <a:r>
              <a:rPr lang="en-US" sz="2400" dirty="0">
                <a:solidFill>
                  <a:schemeClr val="tx1"/>
                </a:solidFill>
              </a:rPr>
              <a:t>, or </a:t>
            </a:r>
            <a:r>
              <a:rPr lang="en-US" sz="2400" b="1" dirty="0">
                <a:solidFill>
                  <a:schemeClr val="tx1"/>
                </a:solidFill>
              </a:rPr>
              <a:t>TOKEN_PROVIDED</a:t>
            </a:r>
            <a:r>
              <a:rPr lang="en-US" sz="2400" dirty="0" smtClean="0">
                <a:solidFill>
                  <a:schemeClr val="tx1"/>
                </a:solidFill>
              </a:rPr>
              <a: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The exact </a:t>
            </a:r>
            <a:r>
              <a:rPr lang="en-US" sz="2400" b="1" dirty="0">
                <a:solidFill>
                  <a:schemeClr val="tx1"/>
                </a:solidFill>
              </a:rPr>
              <a:t>Approved Amount</a:t>
            </a:r>
            <a:r>
              <a:rPr lang="en-US" sz="2400" dirty="0">
                <a:solidFill>
                  <a:schemeClr val="tx1"/>
                </a:solidFill>
              </a:rPr>
              <a:t> is entered (which may differ from the requested amount), and a mandatory </a:t>
            </a:r>
            <a:r>
              <a:rPr lang="en-US" sz="2400" b="1" dirty="0">
                <a:solidFill>
                  <a:schemeClr val="tx1"/>
                </a:solidFill>
              </a:rPr>
              <a:t>Comment</a:t>
            </a:r>
            <a:r>
              <a:rPr lang="en-US" sz="2400" dirty="0">
                <a:solidFill>
                  <a:schemeClr val="tx1"/>
                </a:solidFill>
              </a:rPr>
              <a:t> (</a:t>
            </a:r>
            <a:r>
              <a:rPr lang="en-US" sz="2400" i="1" dirty="0">
                <a:solidFill>
                  <a:schemeClr val="tx1"/>
                </a:solidFill>
              </a:rPr>
              <a:t>approved</a:t>
            </a:r>
            <a:r>
              <a:rPr lang="en-US" sz="2400" dirty="0">
                <a:solidFill>
                  <a:schemeClr val="tx1"/>
                </a:solidFill>
              </a:rPr>
              <a:t>) is added for documentation before the decision is </a:t>
            </a:r>
            <a:r>
              <a:rPr lang="en-US" sz="2400" dirty="0" smtClean="0">
                <a:solidFill>
                  <a:schemeClr val="tx1"/>
                </a:solidFill>
              </a:rPr>
              <a:t>submitted.</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b="1" dirty="0" smtClean="0">
                <a:solidFill>
                  <a:schemeClr val="tx1"/>
                </a:solidFill>
              </a:rPr>
              <a:t>Confirmation </a:t>
            </a:r>
            <a:r>
              <a:rPr lang="en-US" sz="2400" dirty="0" smtClean="0">
                <a:solidFill>
                  <a:schemeClr val="tx1"/>
                </a:solidFill>
              </a:rPr>
              <a:t>t</a:t>
            </a:r>
            <a:r>
              <a:rPr lang="en-US" sz="2400" dirty="0" smtClean="0">
                <a:solidFill>
                  <a:schemeClr val="tx1"/>
                </a:solidFill>
              </a:rPr>
              <a:t>he </a:t>
            </a:r>
            <a:r>
              <a:rPr lang="en-US" sz="2400" dirty="0">
                <a:solidFill>
                  <a:schemeClr val="tx1"/>
                </a:solidFill>
              </a:rPr>
              <a:t>RHQ Dashboard confirms the transaction, and the request moves to the RHQ </a:t>
            </a:r>
            <a:r>
              <a:rPr lang="en-US" sz="2400" b="1" dirty="0">
                <a:solidFill>
                  <a:schemeClr val="tx1"/>
                </a:solidFill>
              </a:rPr>
              <a:t>Approved Requests</a:t>
            </a:r>
            <a:r>
              <a:rPr lang="en-US" sz="2400" dirty="0">
                <a:solidFill>
                  <a:schemeClr val="tx1"/>
                </a:solidFill>
              </a:rPr>
              <a:t> list. The overall RHQ fund summary is updated.</a:t>
            </a:r>
            <a:endParaRPr lang="en-IN" sz="2400" dirty="0">
              <a:solidFill>
                <a:schemeClr val="tx1"/>
              </a:solidFill>
            </a:endParaRPr>
          </a:p>
        </p:txBody>
      </p:sp>
    </p:spTree>
    <p:extLst>
      <p:ext uri="{BB962C8B-B14F-4D97-AF65-F5344CB8AC3E}">
        <p14:creationId xmlns:p14="http://schemas.microsoft.com/office/powerpoint/2010/main" val="32188327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Phase 3: Work Award &amp; Fund Allocation (Closure)</a:t>
            </a:r>
            <a:endParaRPr lang="en-IN" sz="32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635" y="1930400"/>
            <a:ext cx="7377953" cy="4501403"/>
          </a:xfrm>
          <a:prstGeom prst="rect">
            <a:avLst/>
          </a:prstGeom>
        </p:spPr>
      </p:pic>
    </p:spTree>
    <p:extLst>
      <p:ext uri="{BB962C8B-B14F-4D97-AF65-F5344CB8AC3E}">
        <p14:creationId xmlns:p14="http://schemas.microsoft.com/office/powerpoint/2010/main" val="27161285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2127" y="1035803"/>
            <a:ext cx="8596668" cy="1320800"/>
          </a:xfrm>
        </p:spPr>
        <p:txBody>
          <a:bodyPr>
            <a:normAutofit fontScale="90000"/>
          </a:bodyPr>
          <a:lstStyle/>
          <a:p>
            <a:r>
              <a:rPr lang="en-IN" b="1" dirty="0"/>
              <a:t>Work Award / Fund </a:t>
            </a:r>
            <a:r>
              <a:rPr lang="en-IN" b="1" dirty="0" smtClean="0"/>
              <a:t>Allocation</a:t>
            </a:r>
            <a:r>
              <a:rPr lang="en-IN" sz="2700" dirty="0" smtClean="0"/>
              <a:t/>
            </a:r>
            <a:br>
              <a:rPr lang="en-IN" sz="2700" dirty="0" smtClean="0"/>
            </a:br>
            <a:r>
              <a:rPr lang="en-IN" sz="2700" dirty="0"/>
              <a:t/>
            </a:r>
            <a:br>
              <a:rPr lang="en-IN" sz="2700" dirty="0"/>
            </a:br>
            <a:r>
              <a:rPr lang="en-US" sz="2700" dirty="0">
                <a:solidFill>
                  <a:schemeClr val="tx1"/>
                </a:solidFill>
              </a:rPr>
              <a:t>The Station Dashboard is updated: </a:t>
            </a:r>
            <a:r>
              <a:rPr lang="en-US" sz="2700" dirty="0" smtClean="0">
                <a:solidFill>
                  <a:schemeClr val="tx1"/>
                </a:solidFill>
              </a:rPr>
              <a:t/>
            </a:r>
            <a:br>
              <a:rPr lang="en-US" sz="2700" dirty="0" smtClean="0">
                <a:solidFill>
                  <a:schemeClr val="tx1"/>
                </a:solidFill>
              </a:rPr>
            </a:br>
            <a:r>
              <a:rPr lang="en-US" sz="2700" dirty="0">
                <a:solidFill>
                  <a:schemeClr val="tx1"/>
                </a:solidFill>
              </a:rPr>
              <a:t/>
            </a:r>
            <a:br>
              <a:rPr lang="en-US" sz="2700" dirty="0">
                <a:solidFill>
                  <a:schemeClr val="tx1"/>
                </a:solidFill>
              </a:rPr>
            </a:br>
            <a:r>
              <a:rPr lang="en-US" sz="2700" b="1" dirty="0" smtClean="0">
                <a:solidFill>
                  <a:schemeClr val="tx1"/>
                </a:solidFill>
              </a:rPr>
              <a:t>Total </a:t>
            </a:r>
            <a:r>
              <a:rPr lang="en-US" sz="2700" b="1" dirty="0">
                <a:solidFill>
                  <a:schemeClr val="tx1"/>
                </a:solidFill>
              </a:rPr>
              <a:t>Amount Granted</a:t>
            </a:r>
            <a:r>
              <a:rPr lang="en-US" sz="2700" dirty="0">
                <a:solidFill>
                  <a:schemeClr val="tx1"/>
                </a:solidFill>
              </a:rPr>
              <a:t> now reflects the approved amount (₹500,000.00), and the </a:t>
            </a:r>
            <a:r>
              <a:rPr lang="en-US" sz="2700" b="1" dirty="0">
                <a:solidFill>
                  <a:schemeClr val="tx1"/>
                </a:solidFill>
              </a:rPr>
              <a:t>Approved Requests</a:t>
            </a:r>
            <a:r>
              <a:rPr lang="en-US" sz="2700" dirty="0">
                <a:solidFill>
                  <a:schemeClr val="tx1"/>
                </a:solidFill>
              </a:rPr>
              <a:t> count is set to (1). </a:t>
            </a:r>
            <a:r>
              <a:rPr lang="en-US" sz="2700" dirty="0" smtClean="0">
                <a:solidFill>
                  <a:schemeClr val="tx1"/>
                </a:solidFill>
              </a:rPr>
              <a:t/>
            </a:r>
            <a:br>
              <a:rPr lang="en-US" sz="2700" dirty="0" smtClean="0">
                <a:solidFill>
                  <a:schemeClr val="tx1"/>
                </a:solidFill>
              </a:rPr>
            </a:br>
            <a:r>
              <a:rPr lang="en-US" sz="2700" dirty="0">
                <a:solidFill>
                  <a:schemeClr val="tx1"/>
                </a:solidFill>
              </a:rPr>
              <a:t/>
            </a:r>
            <a:br>
              <a:rPr lang="en-US" sz="2700" dirty="0">
                <a:solidFill>
                  <a:schemeClr val="tx1"/>
                </a:solidFill>
              </a:rPr>
            </a:br>
            <a:r>
              <a:rPr lang="en-US" sz="2700" dirty="0" smtClean="0">
                <a:solidFill>
                  <a:schemeClr val="tx1"/>
                </a:solidFill>
              </a:rPr>
              <a:t>This </a:t>
            </a:r>
            <a:r>
              <a:rPr lang="en-US" sz="2700" dirty="0">
                <a:solidFill>
                  <a:schemeClr val="tx1"/>
                </a:solidFill>
              </a:rPr>
              <a:t>signifies the allocation of funds for the work.</a:t>
            </a:r>
            <a:r>
              <a:rPr lang="en-IN" dirty="0" smtClean="0">
                <a:solidFill>
                  <a:schemeClr val="tx1"/>
                </a:solidFill>
              </a:rPr>
              <a:t/>
            </a:r>
            <a:br>
              <a:rPr lang="en-IN" dirty="0" smtClean="0">
                <a:solidFill>
                  <a:schemeClr val="tx1"/>
                </a:solidFill>
              </a:rPr>
            </a:br>
            <a:r>
              <a:rPr lang="en-IN" dirty="0">
                <a:solidFill>
                  <a:schemeClr val="tx1"/>
                </a:solidFill>
              </a:rPr>
              <a:t/>
            </a:r>
            <a:br>
              <a:rPr lang="en-IN" dirty="0">
                <a:solidFill>
                  <a:schemeClr val="tx1"/>
                </a:solidFill>
              </a:rPr>
            </a:br>
            <a:r>
              <a:rPr lang="en-IN" dirty="0" smtClean="0">
                <a:solidFill>
                  <a:schemeClr val="tx1"/>
                </a:solidFill>
              </a:rPr>
              <a:t/>
            </a:r>
            <a:br>
              <a:rPr lang="en-IN" dirty="0" smtClean="0">
                <a:solidFill>
                  <a:schemeClr val="tx1"/>
                </a:solidFill>
              </a:rPr>
            </a:br>
            <a:endParaRPr lang="en-IN" dirty="0">
              <a:solidFill>
                <a:schemeClr val="tx1"/>
              </a:solidFill>
            </a:endParaRPr>
          </a:p>
        </p:txBody>
      </p:sp>
    </p:spTree>
    <p:extLst>
      <p:ext uri="{BB962C8B-B14F-4D97-AF65-F5344CB8AC3E}">
        <p14:creationId xmlns:p14="http://schemas.microsoft.com/office/powerpoint/2010/main" val="41984015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346" y="153211"/>
            <a:ext cx="8596668" cy="1320800"/>
          </a:xfrm>
        </p:spPr>
        <p:txBody>
          <a:bodyPr/>
          <a:lstStyle/>
          <a:p>
            <a:r>
              <a:rPr lang="en-IN" b="1" dirty="0"/>
              <a:t>Approved Request Details</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1884" y="1411809"/>
            <a:ext cx="7413812" cy="4268320"/>
          </a:xfrm>
          <a:prstGeom prst="rect">
            <a:avLst/>
          </a:prstGeom>
        </p:spPr>
      </p:pic>
    </p:spTree>
    <p:extLst>
      <p:ext uri="{BB962C8B-B14F-4D97-AF65-F5344CB8AC3E}">
        <p14:creationId xmlns:p14="http://schemas.microsoft.com/office/powerpoint/2010/main" val="1446601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txBox="1">
            <a:spLocks noGrp="1"/>
          </p:cNvSpPr>
          <p:nvPr>
            <p:ph type="title"/>
          </p:nvPr>
        </p:nvSpPr>
        <p:spPr>
          <a:xfrm>
            <a:off x="328623" y="826577"/>
            <a:ext cx="8596668" cy="4154984"/>
          </a:xfrm>
          <a:prstGeom prst="rect">
            <a:avLst/>
          </a:prstGeom>
          <a:noFill/>
        </p:spPr>
        <p:txBody>
          <a:bodyPr wrap="square" rtlCol="0">
            <a:spAutoFit/>
          </a:bodyPr>
          <a:lstStyle/>
          <a:p>
            <a:r>
              <a:rPr lang="en-US" sz="2400" dirty="0">
                <a:solidFill>
                  <a:schemeClr val="tx1"/>
                </a:solidFill>
              </a:rPr>
              <a:t>The Station views the request under the </a:t>
            </a:r>
            <a:r>
              <a:rPr lang="en-US" sz="2400" b="1" dirty="0">
                <a:solidFill>
                  <a:schemeClr val="tx1"/>
                </a:solidFill>
              </a:rPr>
              <a:t>Approved Requests</a:t>
            </a:r>
            <a:r>
              <a:rPr lang="en-US" sz="2400" dirty="0">
                <a:solidFill>
                  <a:schemeClr val="tx1"/>
                </a:solidFill>
              </a:rPr>
              <a:t> tab, confirming the </a:t>
            </a:r>
            <a:r>
              <a:rPr lang="en-US" sz="2400" b="1" dirty="0">
                <a:solidFill>
                  <a:schemeClr val="tx1"/>
                </a:solidFill>
              </a:rPr>
              <a:t>Approved Amount</a:t>
            </a:r>
            <a:r>
              <a:rPr lang="en-US" sz="2400" dirty="0">
                <a:solidFill>
                  <a:schemeClr val="tx1"/>
                </a:solidFill>
              </a:rPr>
              <a:t>, </a:t>
            </a:r>
            <a:r>
              <a:rPr lang="en-US" sz="2400" b="1" dirty="0">
                <a:solidFill>
                  <a:schemeClr val="tx1"/>
                </a:solidFill>
              </a:rPr>
              <a:t>Limit</a:t>
            </a:r>
            <a:r>
              <a:rPr lang="en-US" sz="2400" dirty="0">
                <a:solidFill>
                  <a:schemeClr val="tx1"/>
                </a:solidFill>
              </a:rPr>
              <a:t>, and the </a:t>
            </a:r>
            <a:r>
              <a:rPr lang="en-US" sz="2400" b="1" dirty="0">
                <a:solidFill>
                  <a:schemeClr val="tx1"/>
                </a:solidFill>
              </a:rPr>
              <a:t>RHQ Comment</a:t>
            </a:r>
            <a:r>
              <a:rPr lang="en-US" sz="2400" dirty="0" smtClean="0">
                <a:solidFill>
                  <a:schemeClr val="tx1"/>
                </a:solidFill>
              </a:rPr>
              <a:t>.</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a:solidFill>
                  <a:schemeClr val="tx1"/>
                </a:solidFill>
              </a:rPr>
              <a:t>Next Step: </a:t>
            </a:r>
            <a:r>
              <a:rPr lang="en-US" sz="2400" dirty="0" smtClean="0">
                <a:solidFill>
                  <a:schemeClr val="tx1"/>
                </a:solidFill>
              </a:rPr>
              <a:t>Expenditure</a:t>
            </a:r>
            <a:r>
              <a:rPr lang="en-US" sz="2400" dirty="0">
                <a:solidFill>
                  <a:schemeClr val="tx1"/>
                </a:solidFill>
              </a:rPr>
              <a:t/>
            </a:r>
            <a:br>
              <a:rPr lang="en-US" sz="2400" dirty="0">
                <a:solidFill>
                  <a:schemeClr val="tx1"/>
                </a:solidFill>
              </a:rPr>
            </a:br>
            <a:r>
              <a:rPr lang="en-US" sz="2400" dirty="0" smtClean="0">
                <a:solidFill>
                  <a:schemeClr val="tx1"/>
                </a:solidFill>
              </a:rPr>
              <a:t/>
            </a:r>
            <a:br>
              <a:rPr lang="en-US" sz="2400" dirty="0" smtClean="0">
                <a:solidFill>
                  <a:schemeClr val="tx1"/>
                </a:solidFill>
              </a:rPr>
            </a:br>
            <a:r>
              <a:rPr lang="en-US" sz="2400" dirty="0" smtClean="0">
                <a:solidFill>
                  <a:schemeClr val="tx1"/>
                </a:solidFill>
              </a:rPr>
              <a:t>The </a:t>
            </a:r>
            <a:r>
              <a:rPr lang="en-US" sz="2400" dirty="0">
                <a:solidFill>
                  <a:schemeClr val="tx1"/>
                </a:solidFill>
              </a:rPr>
              <a:t>Add Expense feature becomes available. </a:t>
            </a:r>
            <a:r>
              <a:rPr lang="en-US" sz="2400" dirty="0" smtClean="0">
                <a:solidFill>
                  <a:schemeClr val="tx1"/>
                </a:solidFill>
              </a:rPr>
              <a:t/>
            </a:r>
            <a:br>
              <a:rPr lang="en-US" sz="2400" dirty="0" smtClean="0">
                <a:solidFill>
                  <a:schemeClr val="tx1"/>
                </a:solidFill>
              </a:rPr>
            </a:br>
            <a:r>
              <a:rPr lang="en-US" sz="2400" dirty="0">
                <a:solidFill>
                  <a:schemeClr val="tx1"/>
                </a:solidFill>
              </a:rPr>
              <a:t/>
            </a:r>
            <a:br>
              <a:rPr lang="en-US" sz="2400" dirty="0">
                <a:solidFill>
                  <a:schemeClr val="tx1"/>
                </a:solidFill>
              </a:rPr>
            </a:br>
            <a:r>
              <a:rPr lang="en-US" sz="2400" dirty="0" smtClean="0">
                <a:solidFill>
                  <a:schemeClr val="tx1"/>
                </a:solidFill>
              </a:rPr>
              <a:t>This </a:t>
            </a:r>
            <a:r>
              <a:rPr lang="en-US" sz="2400" dirty="0">
                <a:solidFill>
                  <a:schemeClr val="tx1"/>
                </a:solidFill>
              </a:rPr>
              <a:t>is the mechanism used to track project expenditure and fulfill the conceptual steps of Bidding, Work Award, and eventually, Work Completion/Payment Entry.</a:t>
            </a:r>
            <a:endParaRPr lang="en-IN" sz="2400" dirty="0">
              <a:solidFill>
                <a:schemeClr val="tx1"/>
              </a:solidFill>
            </a:endParaRPr>
          </a:p>
        </p:txBody>
      </p:sp>
    </p:spTree>
    <p:extLst>
      <p:ext uri="{BB962C8B-B14F-4D97-AF65-F5344CB8AC3E}">
        <p14:creationId xmlns:p14="http://schemas.microsoft.com/office/powerpoint/2010/main" val="42588989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History and Audit</a:t>
            </a: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236" y="1642819"/>
            <a:ext cx="6689252" cy="3192652"/>
          </a:xfrm>
          <a:prstGeom prst="rect">
            <a:avLst/>
          </a:prstGeom>
        </p:spPr>
      </p:pic>
      <p:sp>
        <p:nvSpPr>
          <p:cNvPr id="4" name="TextBox 3"/>
          <p:cNvSpPr txBox="1"/>
          <p:nvPr/>
        </p:nvSpPr>
        <p:spPr>
          <a:xfrm>
            <a:off x="499103" y="5641383"/>
            <a:ext cx="6963330" cy="646331"/>
          </a:xfrm>
          <a:prstGeom prst="rect">
            <a:avLst/>
          </a:prstGeom>
          <a:noFill/>
        </p:spPr>
        <p:txBody>
          <a:bodyPr wrap="square" rtlCol="0">
            <a:spAutoFit/>
          </a:bodyPr>
          <a:lstStyle/>
          <a:p>
            <a:r>
              <a:rPr lang="en-US" dirty="0" smtClean="0"/>
              <a:t>All approved requests, including the status and RHQ comments, are permanently logged in the Request History tab for auditing.</a:t>
            </a:r>
            <a:endParaRPr lang="en-IN" dirty="0"/>
          </a:p>
        </p:txBody>
      </p:sp>
    </p:spTree>
    <p:extLst>
      <p:ext uri="{BB962C8B-B14F-4D97-AF65-F5344CB8AC3E}">
        <p14:creationId xmlns:p14="http://schemas.microsoft.com/office/powerpoint/2010/main" val="285603983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Summary &amp; Key Benefits</a:t>
            </a:r>
            <a:r>
              <a:rPr lang="en-IN" dirty="0" smtClean="0"/>
              <a:t/>
            </a:r>
            <a:br>
              <a:rPr lang="en-IN" dirty="0" smtClean="0"/>
            </a:br>
            <a:r>
              <a:rPr lang="en-IN" dirty="0" smtClean="0"/>
              <a:t/>
            </a:r>
            <a:br>
              <a:rPr lang="en-IN" dirty="0" smtClean="0"/>
            </a:br>
            <a:r>
              <a:rPr lang="en-US" sz="2700" dirty="0" smtClean="0">
                <a:solidFill>
                  <a:schemeClr val="tx1"/>
                </a:solidFill>
              </a:rPr>
              <a:t>The </a:t>
            </a:r>
            <a:r>
              <a:rPr lang="en-US" sz="2700" dirty="0">
                <a:solidFill>
                  <a:schemeClr val="tx1"/>
                </a:solidFill>
              </a:rPr>
              <a:t>system provides a seamless digital flow from Station request initiation to RHQ approval, ensuring the necessary checks and balances are met before fund allocation</a:t>
            </a:r>
            <a:r>
              <a:rPr lang="en-US" sz="2700" dirty="0" smtClean="0">
                <a:solidFill>
                  <a:schemeClr val="tx1"/>
                </a:solidFill>
              </a:rPr>
              <a:t>.</a:t>
            </a:r>
            <a:br>
              <a:rPr lang="en-US" sz="2700" dirty="0" smtClean="0">
                <a:solidFill>
                  <a:schemeClr val="tx1"/>
                </a:solidFill>
              </a:rPr>
            </a:br>
            <a:r>
              <a:rPr lang="en-US" sz="2700" dirty="0">
                <a:solidFill>
                  <a:schemeClr val="tx1"/>
                </a:solidFill>
              </a:rPr>
              <a:t/>
            </a:r>
            <a:br>
              <a:rPr lang="en-US" sz="2700" dirty="0">
                <a:solidFill>
                  <a:schemeClr val="tx1"/>
                </a:solidFill>
              </a:rPr>
            </a:br>
            <a:r>
              <a:rPr lang="en-US" sz="2700" dirty="0" smtClean="0">
                <a:solidFill>
                  <a:schemeClr val="tx1"/>
                </a:solidFill>
              </a:rPr>
              <a:t>Transparency </a:t>
            </a:r>
            <a:r>
              <a:rPr lang="en-US" sz="2700" dirty="0">
                <a:solidFill>
                  <a:schemeClr val="tx1"/>
                </a:solidFill>
              </a:rPr>
              <a:t>&amp; </a:t>
            </a:r>
            <a:r>
              <a:rPr lang="en-US" sz="2700" dirty="0" smtClean="0">
                <a:solidFill>
                  <a:schemeClr val="tx1"/>
                </a:solidFill>
              </a:rPr>
              <a:t>Tracking Statuses </a:t>
            </a:r>
            <a:r>
              <a:rPr lang="en-US" sz="2700" dirty="0">
                <a:solidFill>
                  <a:schemeClr val="tx1"/>
                </a:solidFill>
              </a:rPr>
              <a:t>are updated in real-time, providing transparency for both the requesting Station and the approving </a:t>
            </a:r>
            <a:r>
              <a:rPr lang="en-US" sz="2700" dirty="0" smtClean="0">
                <a:solidFill>
                  <a:schemeClr val="tx1"/>
                </a:solidFill>
              </a:rPr>
              <a:t>RHQ.</a:t>
            </a:r>
            <a:br>
              <a:rPr lang="en-US" sz="2700" dirty="0" smtClean="0">
                <a:solidFill>
                  <a:schemeClr val="tx1"/>
                </a:solidFill>
              </a:rPr>
            </a:br>
            <a:r>
              <a:rPr lang="en-US" sz="2700" dirty="0" smtClean="0">
                <a:solidFill>
                  <a:schemeClr val="tx1"/>
                </a:solidFill>
              </a:rPr>
              <a:t/>
            </a:r>
            <a:br>
              <a:rPr lang="en-US" sz="2700" dirty="0" smtClean="0">
                <a:solidFill>
                  <a:schemeClr val="tx1"/>
                </a:solidFill>
              </a:rPr>
            </a:br>
            <a:r>
              <a:rPr lang="en-US" sz="2700" dirty="0" smtClean="0">
                <a:solidFill>
                  <a:schemeClr val="tx1"/>
                </a:solidFill>
              </a:rPr>
              <a:t>The </a:t>
            </a:r>
            <a:r>
              <a:rPr lang="en-US" sz="2700" dirty="0">
                <a:solidFill>
                  <a:schemeClr val="tx1"/>
                </a:solidFill>
              </a:rPr>
              <a:t>system captures the approved amount, decision, and comments, creating a clear audit trail for the Fund Management process.</a:t>
            </a:r>
            <a:endParaRPr lang="en-IN" sz="2700" dirty="0">
              <a:solidFill>
                <a:schemeClr val="tx1"/>
              </a:solidFill>
            </a:endParaRPr>
          </a:p>
        </p:txBody>
      </p:sp>
    </p:spTree>
    <p:extLst>
      <p:ext uri="{BB962C8B-B14F-4D97-AF65-F5344CB8AC3E}">
        <p14:creationId xmlns:p14="http://schemas.microsoft.com/office/powerpoint/2010/main" val="102566178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
  <TotalTime>679</TotalTime>
  <Words>242</Words>
  <Application>Microsoft Office PowerPoint</Application>
  <PresentationFormat>Widescreen</PresentationFormat>
  <Paragraphs>26</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Trebuchet MS</vt:lpstr>
      <vt:lpstr>Wingdings 3</vt:lpstr>
      <vt:lpstr>Facet</vt:lpstr>
      <vt:lpstr>AAI Fund Management System: The Project Fund Workflow</vt:lpstr>
      <vt:lpstr>Main Login-in Page </vt:lpstr>
      <vt:lpstr>Phase 1: Station Request (Initiation)  System Access and Registration</vt:lpstr>
      <vt:lpstr>Secure access is provided via the AAI Fund Management Portal.   New Station Members must register, providing their Official Email, Department (e.g., Tech), and assigned Station (e.g., Madurai) to create an account.  Station Members must register, providing their Official Email, Department (e.g., Tech), and assigned Station (e.g., Madurai) to create an account.  Then the station member can login their on account using their registered G-mail and password.</vt:lpstr>
      <vt:lpstr>Station Dashboard Overview</vt:lpstr>
      <vt:lpstr>The dashboard provides an immediate summary of Total        Amount Requested and Total Amount Granted.   Navigation is managed through the sidebar menu. The station staff can use this dashboard to request the fund amount , to view the status of the requested amount .  When the fund amount is approved by the RHQ , then the status will change and will be visible for the respected stations .</vt:lpstr>
      <vt:lpstr>Create Fund Request</vt:lpstr>
      <vt:lpstr>The Station initiates the process by entering the project's Purpose (e.g., fund requesting for repair and replacement of servers) and the exact Amount required (e.g., ₹500,000.00).  It is mandatory to fill the purpose of the fund request. And the amount can also be set and the station staff can submit the request.</vt:lpstr>
      <vt:lpstr>Status Update</vt:lpstr>
      <vt:lpstr>Upon submission, the dashboard confirms the submission, and the request is immediately moved to the Pending Requests tab.  The submission is recorded in the pending request and also in the history.  Using this we can access the old data request records for future uses.</vt:lpstr>
      <vt:lpstr>Phase 2:  RHQ Review (Approval) RHQ Dashboard                </vt:lpstr>
      <vt:lpstr>RHQ Pending Requests View</vt:lpstr>
      <vt:lpstr>The request appears on the RHQ Dashboard under Pending Requests.   The RHQ authority can review details like the Purpose, Requested Amount, and current Status: PENDING.  If the request is approved it will be moved to approved request.  The capital allotted from CHQ to RHQ can be added into the fund pool ie, the total capital held by the RHQ.  Analytics dashboard is where we can view the recorded raw data in visualization .    </vt:lpstr>
      <vt:lpstr>Decision Making</vt:lpstr>
      <vt:lpstr>Sanction and Comment, RHQ Confirmation</vt:lpstr>
      <vt:lpstr>PowerPoint Presentation</vt:lpstr>
      <vt:lpstr>The request appears on the RHQ Dashboard under Pending Requests. The RHQ authority can review details like the Purpose, Requested Amount, and current Status: PENDING.  The RHQ user selects the Decision from a dropdown menu, choosing between APPROVED, DENIED, or TOKEN_PROVIDED.  The exact Approved Amount is entered (which may differ from the requested amount), and a mandatory Comment (approved) is added for documentation before the decision is submitted.  Confirmation the RHQ Dashboard confirms the transaction, and the request moves to the RHQ Approved Requests list. The overall RHQ fund summary is updated.</vt:lpstr>
      <vt:lpstr>Phase 3: Work Award &amp; Fund Allocation (Closure)</vt:lpstr>
      <vt:lpstr>Work Award / Fund Allocation  The Station Dashboard is updated:   Total Amount Granted now reflects the approved amount (₹500,000.00), and the Approved Requests count is set to (1).   This signifies the allocation of funds for the work.   </vt:lpstr>
      <vt:lpstr>Approved Request Details</vt:lpstr>
      <vt:lpstr>The Station views the request under the Approved Requests tab, confirming the Approved Amount, Limit, and the RHQ Comment.  Next Step: Expenditure  The Add Expense feature becomes available.   This is the mechanism used to track project expenditure and fulfill the conceptual steps of Bidding, Work Award, and eventually, Work Completion/Payment Entry.</vt:lpstr>
      <vt:lpstr>History and Audit</vt:lpstr>
      <vt:lpstr>Summary &amp; Key Benefits  The system provides a seamless digital flow from Station request initiation to RHQ approval, ensuring the necessary checks and balances are met before fund allocation.  Transparency &amp; Tracking Statuses are updated in real-time, providing transparency for both the requesting Station and the approving RHQ.  The system captures the approved amount, decision, and comments, creating a clear audit trail for the Fund Management process.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AAI Fund Management System: The Project Fund Workflow</dc:title>
  <dc:creator>Administrator</dc:creator>
  <cp:lastModifiedBy>Administrator</cp:lastModifiedBy>
  <cp:revision>20</cp:revision>
  <dcterms:created xsi:type="dcterms:W3CDTF">2025-12-09T06:16:59Z</dcterms:created>
  <dcterms:modified xsi:type="dcterms:W3CDTF">2025-12-18T10:58:04Z</dcterms:modified>
</cp:coreProperties>
</file>